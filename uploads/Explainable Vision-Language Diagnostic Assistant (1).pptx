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7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48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15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1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93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81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11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47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1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61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6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26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12840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512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366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03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9099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71387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216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1329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198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368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212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093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182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49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219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134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19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  <p:sldLayoutId id="2147483780" r:id="rId18"/>
    <p:sldLayoutId id="2147483781" r:id="rId19"/>
    <p:sldLayoutId id="2147483782" r:id="rId20"/>
    <p:sldLayoutId id="2147483783" r:id="rId21"/>
    <p:sldLayoutId id="2147483784" r:id="rId22"/>
    <p:sldLayoutId id="2147483785" r:id="rId23"/>
    <p:sldLayoutId id="2147483786" r:id="rId24"/>
    <p:sldLayoutId id="2147483787" r:id="rId25"/>
    <p:sldLayoutId id="2147483788" r:id="rId26"/>
    <p:sldLayoutId id="2147483789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2301.02228" TargetMode="External"/><Relationship Id="rId3" Type="http://schemas.openxmlformats.org/officeDocument/2006/relationships/hyperlink" Target="https://arxiv.org/pdf/1512.03385" TargetMode="External"/><Relationship Id="rId7" Type="http://schemas.openxmlformats.org/officeDocument/2006/relationships/hyperlink" Target="https://arxiv.org/pdf/2301.12597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arxiv.org/pdf/1610.02391" TargetMode="External"/><Relationship Id="rId5" Type="http://schemas.openxmlformats.org/officeDocument/2006/relationships/hyperlink" Target="https://arxiv.org/pdf/1711.05225" TargetMode="External"/><Relationship Id="rId4" Type="http://schemas.openxmlformats.org/officeDocument/2006/relationships/hyperlink" Target="https://arxiv.org/abs/1608.06993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/ICCV2021/html/Huang_GLoRIA_A_Multimodal_Global-Local_Representation_Learning_Framework_for_Label-Efficient_Medical_ICCV_2021_paper.html?utm_source=chatgpt.com" TargetMode="External"/><Relationship Id="rId7" Type="http://schemas.openxmlformats.org/officeDocument/2006/relationships/hyperlink" Target="https://openaccess.thecvf.com/content/ICCV2021/papers/Huang_GLoRIA_A_Multimodal_Global-Local_Representation_Learning_Framework_for_Label-Efficient_Medical_ICCV_2021_paper.pdf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openaccess.thecvf.com/content_cvpr_2017/papers/Wang_ChestX-ray8_Hospital-Scale_Chest_CVPR_2017_paper.pdf" TargetMode="External"/><Relationship Id="rId5" Type="http://schemas.openxmlformats.org/officeDocument/2006/relationships/hyperlink" Target="https://aclanthology.org/2022.emnlp-main.256.pdf" TargetMode="External"/><Relationship Id="rId4" Type="http://schemas.openxmlformats.org/officeDocument/2006/relationships/hyperlink" Target="https://arxiv.org/pdf/2010.00747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openxmlformats.org/officeDocument/2006/relationships/image" Target="../media/image2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1.png"/><Relationship Id="rId11" Type="http://schemas.openxmlformats.org/officeDocument/2006/relationships/image" Target="../media/image9.jpe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5705475"/>
            <a:ext cx="2671762" cy="723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037" y="5705475"/>
            <a:ext cx="2671762" cy="723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5705475"/>
            <a:ext cx="2671762" cy="723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362" y="5705475"/>
            <a:ext cx="2671762" cy="723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1937" y="1730872"/>
            <a:ext cx="11668125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0" i="0" u="none" dirty="0">
                <a:solidFill>
                  <a:srgbClr val="0F172A"/>
                </a:solidFill>
                <a:latin typeface="Plus Jakarta Sans ExtraBold"/>
              </a:rPr>
              <a:t>Explainable Vision-Language Diagnostic Assistant for Chest Radiographs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3266033"/>
            <a:ext cx="10001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2000" b="0" i="0" u="none" dirty="0">
                <a:solidFill>
                  <a:srgbClr val="475569"/>
                </a:solidFill>
                <a:latin typeface="Inter"/>
              </a:rPr>
              <a:t>An offline, edge-optimized medical AI solution empowering rural health workers with automated chest X-ray interpretation, visual heatmap reasoning, and priority triage scoring.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5305425"/>
            <a:ext cx="116681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PROJECT GROUP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95975"/>
            <a:ext cx="23479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P. Kavya Sai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15050"/>
            <a:ext cx="23479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Inter SemiBold"/>
              </a:rPr>
              <a:t>2420030322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9962" y="5895975"/>
            <a:ext cx="23479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P. Meghna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962" y="6115050"/>
            <a:ext cx="23479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Inter SemiBold"/>
              </a:rPr>
              <a:t>2420030401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4125" y="5895975"/>
            <a:ext cx="23479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S. Anjana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4125" y="6115050"/>
            <a:ext cx="23479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Inter SemiBold"/>
              </a:rPr>
              <a:t>2420030499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8287" y="5895975"/>
            <a:ext cx="234791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D. Poojitha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8287" y="6115050"/>
            <a:ext cx="234791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284C7"/>
                </a:solidFill>
                <a:latin typeface="Inter SemiBold"/>
              </a:rPr>
              <a:t>2420030697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D8B0F5-FBF1-2971-EA16-461E92671846}"/>
              </a:ext>
            </a:extLst>
          </p:cNvPr>
          <p:cNvSpPr txBox="1"/>
          <p:nvPr/>
        </p:nvSpPr>
        <p:spPr>
          <a:xfrm>
            <a:off x="3245802" y="4175760"/>
            <a:ext cx="574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Group number: 4       Cluster - 3      Section – 7</a:t>
            </a:r>
          </a:p>
          <a:p>
            <a:endParaRPr lang="en-US" dirty="0"/>
          </a:p>
          <a:p>
            <a:r>
              <a:rPr lang="en-US" dirty="0"/>
              <a:t>	     Under the Guidance of:</a:t>
            </a:r>
          </a:p>
          <a:p>
            <a:r>
              <a:rPr lang="en-US" dirty="0"/>
              <a:t>	           Dr. K .Swanthana</a:t>
            </a:r>
          </a:p>
        </p:txBody>
      </p:sp>
      <p:pic>
        <p:nvPicPr>
          <p:cNvPr id="22" name="Picture 21" descr="MAPS &amp; DIRECTIONS - Best Private University in Telangana ...">
            <a:extLst>
              <a:ext uri="{FF2B5EF4-FFF2-40B4-BE49-F238E27FC236}">
                <a16:creationId xmlns:a16="http://schemas.microsoft.com/office/drawing/2014/main" id="{CD280812-5DEB-604C-F3A9-5709F2E1F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088"/>
            <a:ext cx="1910080" cy="10799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104900"/>
            <a:ext cx="54197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5475" y="504825"/>
            <a:ext cx="215265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049" y="1579550"/>
            <a:ext cx="5153025" cy="660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i="0" u="none" dirty="0">
                <a:solidFill>
                  <a:srgbClr val="0F172A"/>
                </a:solidFill>
                <a:latin typeface="Inter"/>
              </a:rPr>
              <a:t>Acute Radiologist Shortage: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Primary health centers in rural regions lack specialist radiologists to read X-rays and detect conditions like pneumonia or tuberculosis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48" y="2755881"/>
            <a:ext cx="5153025" cy="660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i="0" u="none" dirty="0">
                <a:solidFill>
                  <a:srgbClr val="0F172A"/>
                </a:solidFill>
                <a:latin typeface="Inter"/>
              </a:rPr>
              <a:t>Diagnostic Delays &amp; Travel Burden: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Patients travel vast distances to urban hospitals, delaying time-critical care and incurring heavy financial expense.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4185616"/>
            <a:ext cx="5153025" cy="660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i="0" u="none" dirty="0">
                <a:solidFill>
                  <a:srgbClr val="0F172A"/>
                </a:solidFill>
                <a:latin typeface="Inter"/>
              </a:rPr>
              <a:t>Black-Box AI Mistrust:</a:t>
            </a:r>
            <a:r>
              <a:rPr b="0" i="0" u="none" dirty="0">
                <a:solidFill>
                  <a:srgbClr val="334155"/>
                </a:solidFill>
                <a:latin typeface="Inter"/>
              </a:rPr>
              <a:t> Traditional AI systems provide class outputs without explanations, making local nurses reluctant to rely on machine predictions.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2947987"/>
            <a:ext cx="5153025" cy="201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5" y="1114425"/>
            <a:ext cx="5400675" cy="3600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629" y="1645604"/>
            <a:ext cx="293646" cy="33559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571" y="2788603"/>
            <a:ext cx="234931" cy="234931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V="1">
            <a:off x="401043" y="4150850"/>
            <a:ext cx="264714" cy="2117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Problem Statement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MAPS &amp; DIRECTIONS - Best Private University in Telangana ...">
            <a:extLst>
              <a:ext uri="{FF2B5EF4-FFF2-40B4-BE49-F238E27FC236}">
                <a16:creationId xmlns:a16="http://schemas.microsoft.com/office/drawing/2014/main" id="{9999A023-BB94-FA49-63C3-171D4560E7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4800" y="5573562"/>
            <a:ext cx="1587542" cy="1098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375" y="504825"/>
            <a:ext cx="1809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7" y="3967534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3011" y="3861749"/>
            <a:ext cx="10153293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350" b="1" dirty="0">
                <a:solidFill>
                  <a:srgbClr val="0369A1"/>
                </a:solidFill>
                <a:latin typeface="Plus Jakarta Sans"/>
              </a:rPr>
              <a:t>3</a:t>
            </a:r>
            <a:r>
              <a:rPr sz="1350" b="1" i="0" u="none" dirty="0">
                <a:solidFill>
                  <a:srgbClr val="0369A1"/>
                </a:solidFill>
                <a:latin typeface="Plus Jakarta Sans"/>
              </a:rPr>
              <a:t>. Automated Triage &amp; Priority Guidance</a:t>
            </a:r>
            <a:br>
              <a:rPr lang="en-US" sz="1350" b="1" i="0" u="none" dirty="0">
                <a:solidFill>
                  <a:srgbClr val="0369A1"/>
                </a:solidFill>
                <a:latin typeface="Plus Jakarta Sans"/>
              </a:rPr>
            </a:br>
            <a:r>
              <a:rPr lang="en-US" sz="1400" i="0" u="none" dirty="0">
                <a:solidFill>
                  <a:srgbClr val="475569"/>
                </a:solidFill>
                <a:latin typeface="Inter"/>
              </a:rPr>
              <a:t>To c</a:t>
            </a:r>
            <a:r>
              <a:rPr lang="en-US" sz="1400" dirty="0">
                <a:solidFill>
                  <a:srgbClr val="475569"/>
                </a:solidFill>
                <a:latin typeface="Inter"/>
              </a:rPr>
              <a:t>ompute case urgency flags (e.g., "Please refer to specialist within 24 hours") so rural health workers can prioritize critical emergency cases immediately</a:t>
            </a:r>
            <a:r>
              <a:rPr lang="en-US" sz="1100" dirty="0">
                <a:solidFill>
                  <a:srgbClr val="475569"/>
                </a:solidFill>
                <a:latin typeface="Inter"/>
              </a:rPr>
              <a:t>.</a:t>
            </a:r>
          </a:p>
          <a:p>
            <a:pPr algn="l"/>
            <a:endParaRPr sz="1350" b="1" i="0" u="none" dirty="0">
              <a:solidFill>
                <a:srgbClr val="0369A1"/>
              </a:solidFill>
              <a:latin typeface="Plus Jakarta San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37" y="1303878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3011" y="1317380"/>
            <a:ext cx="10435113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 u="none" dirty="0">
                <a:solidFill>
                  <a:srgbClr val="0369A1"/>
                </a:solidFill>
                <a:latin typeface="Plus Jakarta Sans"/>
              </a:rPr>
              <a:t>1. Multimodal Diagnosis</a:t>
            </a:r>
            <a:br>
              <a:rPr lang="en-US" sz="1350" b="1" i="0" u="none" dirty="0">
                <a:solidFill>
                  <a:srgbClr val="0369A1"/>
                </a:solidFill>
                <a:latin typeface="Plus Jakarta Sans"/>
              </a:rPr>
            </a:br>
            <a:r>
              <a:rPr lang="en-US" sz="1350" dirty="0">
                <a:solidFill>
                  <a:schemeClr val="bg2">
                    <a:lumMod val="10000"/>
                  </a:schemeClr>
                </a:solidFill>
                <a:latin typeface="Plus Jakarta Sans"/>
              </a:rPr>
              <a:t>To d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Inter"/>
              </a:rPr>
              <a:t>evelop </a:t>
            </a:r>
            <a:r>
              <a:rPr lang="en-US" sz="1400" dirty="0">
                <a:solidFill>
                  <a:srgbClr val="475569"/>
                </a:solidFill>
                <a:latin typeface="Inter"/>
              </a:rPr>
              <a:t>a vision-language assistant to generate plain-language diagnostic descriptions (e.g., "early signs of pneumonia") alongside class confidence scores.</a:t>
            </a:r>
          </a:p>
          <a:p>
            <a:pPr algn="l"/>
            <a:endParaRPr sz="1350" b="1" i="0" u="none" dirty="0">
              <a:solidFill>
                <a:srgbClr val="0369A1"/>
              </a:solidFill>
              <a:latin typeface="Plus Jakarta Sans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7" y="2668757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33012" y="2668757"/>
            <a:ext cx="9925526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 u="none" dirty="0">
                <a:solidFill>
                  <a:srgbClr val="0369A1"/>
                </a:solidFill>
                <a:latin typeface="Plus Jakarta Sans"/>
              </a:rPr>
              <a:t>2. Visual Explanation</a:t>
            </a:r>
            <a:br>
              <a:rPr lang="en-US" sz="1350" b="1" i="0" u="none" dirty="0">
                <a:solidFill>
                  <a:srgbClr val="0369A1"/>
                </a:solidFill>
                <a:latin typeface="Plus Jakarta Sans"/>
              </a:rPr>
            </a:br>
            <a:r>
              <a:rPr lang="en-US" sz="1400" i="0" u="none" dirty="0">
                <a:solidFill>
                  <a:srgbClr val="475569"/>
                </a:solidFill>
                <a:latin typeface="Inter"/>
              </a:rPr>
              <a:t>To i</a:t>
            </a:r>
            <a:r>
              <a:rPr lang="en-US" sz="1400" dirty="0">
                <a:solidFill>
                  <a:srgbClr val="475569"/>
                </a:solidFill>
                <a:latin typeface="Inter"/>
              </a:rPr>
              <a:t>ncorporate Grad-CAM heatmaps and attention overlays that circle the exact anatomical regions of concern, giving healthcare workers verifiable proof.</a:t>
            </a:r>
          </a:p>
          <a:p>
            <a:pPr algn="l"/>
            <a:endParaRPr sz="1350" b="1" i="0" u="none" dirty="0">
              <a:solidFill>
                <a:srgbClr val="0369A1"/>
              </a:solidFill>
              <a:latin typeface="Plus Jakarta Sans"/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861" y="4072309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674" y="1427703"/>
            <a:ext cx="161925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695" y="2792582"/>
            <a:ext cx="209550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Project Objectives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 descr="MAPS &amp; DIRECTIONS - Best Private University in Telangana ...">
            <a:extLst>
              <a:ext uri="{FF2B5EF4-FFF2-40B4-BE49-F238E27FC236}">
                <a16:creationId xmlns:a16="http://schemas.microsoft.com/office/drawing/2014/main" id="{1594E317-9DCA-1FF0-1F6C-9BA54906C1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4734" y="5972175"/>
            <a:ext cx="1566765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728662" y="379427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 dirty="0">
                <a:solidFill>
                  <a:srgbClr val="0F172A"/>
                </a:solidFill>
                <a:latin typeface="Plus Jakarta Sans ExtraBold"/>
              </a:rPr>
              <a:t>Literature Survey &amp; Research Gap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MAPS &amp; DIRECTIONS - Best Private University in Telangana ...">
            <a:extLst>
              <a:ext uri="{FF2B5EF4-FFF2-40B4-BE49-F238E27FC236}">
                <a16:creationId xmlns:a16="http://schemas.microsoft.com/office/drawing/2014/main" id="{1092621B-E03E-3F05-1532-46932A13B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960" y="5655495"/>
            <a:ext cx="1971040" cy="1114396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AE8EA73-B076-0E06-7D0B-B0741CD842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283847"/>
              </p:ext>
            </p:extLst>
          </p:nvPr>
        </p:nvGraphicFramePr>
        <p:xfrm>
          <a:off x="2134354" y="991631"/>
          <a:ext cx="6932692" cy="5471640"/>
        </p:xfrm>
        <a:graphic>
          <a:graphicData uri="http://schemas.openxmlformats.org/drawingml/2006/table">
            <a:tbl>
              <a:tblPr/>
              <a:tblGrid>
                <a:gridCol w="1733173">
                  <a:extLst>
                    <a:ext uri="{9D8B030D-6E8A-4147-A177-3AD203B41FA5}">
                      <a16:colId xmlns:a16="http://schemas.microsoft.com/office/drawing/2014/main" val="3963269624"/>
                    </a:ext>
                  </a:extLst>
                </a:gridCol>
                <a:gridCol w="1733173">
                  <a:extLst>
                    <a:ext uri="{9D8B030D-6E8A-4147-A177-3AD203B41FA5}">
                      <a16:colId xmlns:a16="http://schemas.microsoft.com/office/drawing/2014/main" val="225258448"/>
                    </a:ext>
                  </a:extLst>
                </a:gridCol>
                <a:gridCol w="1733173">
                  <a:extLst>
                    <a:ext uri="{9D8B030D-6E8A-4147-A177-3AD203B41FA5}">
                      <a16:colId xmlns:a16="http://schemas.microsoft.com/office/drawing/2014/main" val="3069622178"/>
                    </a:ext>
                  </a:extLst>
                </a:gridCol>
                <a:gridCol w="1733173">
                  <a:extLst>
                    <a:ext uri="{9D8B030D-6E8A-4147-A177-3AD203B41FA5}">
                      <a16:colId xmlns:a16="http://schemas.microsoft.com/office/drawing/2014/main" val="2312018239"/>
                    </a:ext>
                  </a:extLst>
                </a:gridCol>
              </a:tblGrid>
              <a:tr h="4095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Research Work / Model</a:t>
                      </a:r>
                      <a:endParaRPr lang="en-US" sz="1200" dirty="0"/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Key Contribution</a:t>
                      </a:r>
                      <a:endParaRPr lang="en-US" sz="1200"/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Limitation / Research Gap</a:t>
                      </a:r>
                      <a:endParaRPr lang="en-US" sz="1200"/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Research Paper</a:t>
                      </a:r>
                      <a:endParaRPr lang="en-US" sz="1200"/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655203"/>
                  </a:ext>
                </a:extLst>
              </a:tr>
              <a:tr h="760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ResNet &amp; DenseNet</a:t>
                      </a:r>
                      <a:endParaRPr lang="en-US" sz="1200"/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Strong CNN-based image classification and feature extraction.</a:t>
                      </a:r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Mainly focused on classification; limited report generation and multimodal reasoning.</a:t>
                      </a:r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hlinkClick r:id="rId3"/>
                        </a:rPr>
                        <a:t>ResNet</a:t>
                      </a:r>
                      <a:r>
                        <a:rPr lang="en-US" sz="1200" dirty="0">
                          <a:hlinkClick r:id="rId3"/>
                        </a:rPr>
                        <a:t> Paper</a:t>
                      </a:r>
                      <a:r>
                        <a:rPr lang="en-US" sz="1200" dirty="0"/>
                        <a:t> / </a:t>
                      </a:r>
                      <a:r>
                        <a:rPr lang="en-US" sz="1200" dirty="0" err="1">
                          <a:hlinkClick r:id="rId4"/>
                        </a:rPr>
                        <a:t>DenseNet</a:t>
                      </a:r>
                      <a:r>
                        <a:rPr lang="en-US" sz="1200" dirty="0">
                          <a:hlinkClick r:id="rId4"/>
                        </a:rPr>
                        <a:t> Paper</a:t>
                      </a:r>
                      <a:endParaRPr lang="en-US" sz="1200" dirty="0"/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79771"/>
                  </a:ext>
                </a:extLst>
              </a:tr>
              <a:tr h="760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CheXNet</a:t>
                      </a:r>
                      <a:endParaRPr lang="en-US" sz="1200"/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Detects pneumonia and other thoracic diseases from chest X-rays using deep CNNs.</a:t>
                      </a:r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Primarily classification-based and lacks comprehensive multimodal reasoning.</a:t>
                      </a:r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hlinkClick r:id="rId5"/>
                        </a:rPr>
                        <a:t>CheXNet</a:t>
                      </a:r>
                      <a:r>
                        <a:rPr lang="en-US" sz="1200" dirty="0">
                          <a:hlinkClick r:id="rId5"/>
                        </a:rPr>
                        <a:t> Paper</a:t>
                      </a:r>
                      <a:endParaRPr lang="en-US" sz="1200" dirty="0"/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193483"/>
                  </a:ext>
                </a:extLst>
              </a:tr>
              <a:tr h="936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Grad-CAM</a:t>
                      </a:r>
                      <a:endParaRPr lang="en-US" sz="1200"/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Generates heatmaps showing image regions responsible for model predictions.</a:t>
                      </a:r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Visual explanation is not inherently connected to textual diagnosis or clinical reasoning.</a:t>
                      </a:r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hlinkClick r:id="rId6"/>
                        </a:rPr>
                        <a:t>Grad-CAM Paper</a:t>
                      </a:r>
                      <a:endParaRPr lang="en-US" sz="1200" dirty="0"/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129145"/>
                  </a:ext>
                </a:extLst>
              </a:tr>
              <a:tr h="1111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BLIP-2</a:t>
                      </a:r>
                      <a:endParaRPr lang="en-US" sz="1200"/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Connects image encoders with large language models for vision-language understanding and generation.</a:t>
                      </a:r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Large language models can still require substantial computational resources.</a:t>
                      </a:r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hlinkClick r:id="rId7"/>
                        </a:rPr>
                        <a:t>BLIP-2 Paper</a:t>
                      </a:r>
                      <a:endParaRPr lang="en-US" sz="1200" dirty="0"/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790706"/>
                  </a:ext>
                </a:extLst>
              </a:tr>
              <a:tr h="1111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MedKLIP</a:t>
                      </a:r>
                      <a:endParaRPr lang="en-US" sz="1200"/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Incorporates medical knowledge and aligns medical entities with visual image regions for X-ray diagnosis.</a:t>
                      </a:r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More complex architecture and computational requirements make lightweight deployment difficult.</a:t>
                      </a:r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hlinkClick r:id="rId8"/>
                        </a:rPr>
                        <a:t>MedKLIP</a:t>
                      </a:r>
                      <a:r>
                        <a:rPr lang="en-US" sz="1200" dirty="0">
                          <a:hlinkClick r:id="rId8"/>
                        </a:rPr>
                        <a:t> Paper</a:t>
                      </a:r>
                      <a:endParaRPr lang="en-US" sz="1200" dirty="0"/>
                    </a:p>
                  </a:txBody>
                  <a:tcPr marL="58500" marR="58500" marT="29250" marB="2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7124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9F94D-A4BB-ACC0-256F-DC7967F28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71309F4E-964B-BF51-E7F7-285E0059000B}"/>
              </a:ext>
            </a:extLst>
          </p:cNvPr>
          <p:cNvSpPr txBox="1"/>
          <p:nvPr/>
        </p:nvSpPr>
        <p:spPr>
          <a:xfrm>
            <a:off x="728662" y="379427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 dirty="0">
                <a:solidFill>
                  <a:srgbClr val="0F172A"/>
                </a:solidFill>
                <a:latin typeface="Plus Jakarta Sans ExtraBold"/>
              </a:rPr>
              <a:t>Literature Survey &amp; Research Gap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A34E29-79FC-9D96-64D6-91FB0771CA33}"/>
              </a:ext>
            </a:extLst>
          </p:cNvPr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MAPS &amp; DIRECTIONS - Best Private University in Telangana ...">
            <a:extLst>
              <a:ext uri="{FF2B5EF4-FFF2-40B4-BE49-F238E27FC236}">
                <a16:creationId xmlns:a16="http://schemas.microsoft.com/office/drawing/2014/main" id="{A93FA414-4A8D-D5E4-951C-BC3D8843A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960" y="5655495"/>
            <a:ext cx="1971040" cy="1114396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F140D3-8894-6C69-DC0F-FDF9B4512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949781"/>
              </p:ext>
            </p:extLst>
          </p:nvPr>
        </p:nvGraphicFramePr>
        <p:xfrm>
          <a:off x="1994170" y="1011223"/>
          <a:ext cx="8521432" cy="5261435"/>
        </p:xfrm>
        <a:graphic>
          <a:graphicData uri="http://schemas.openxmlformats.org/drawingml/2006/table">
            <a:tbl>
              <a:tblPr/>
              <a:tblGrid>
                <a:gridCol w="2130358">
                  <a:extLst>
                    <a:ext uri="{9D8B030D-6E8A-4147-A177-3AD203B41FA5}">
                      <a16:colId xmlns:a16="http://schemas.microsoft.com/office/drawing/2014/main" val="156920456"/>
                    </a:ext>
                  </a:extLst>
                </a:gridCol>
                <a:gridCol w="2130358">
                  <a:extLst>
                    <a:ext uri="{9D8B030D-6E8A-4147-A177-3AD203B41FA5}">
                      <a16:colId xmlns:a16="http://schemas.microsoft.com/office/drawing/2014/main" val="2548427693"/>
                    </a:ext>
                  </a:extLst>
                </a:gridCol>
                <a:gridCol w="2130358">
                  <a:extLst>
                    <a:ext uri="{9D8B030D-6E8A-4147-A177-3AD203B41FA5}">
                      <a16:colId xmlns:a16="http://schemas.microsoft.com/office/drawing/2014/main" val="4138919045"/>
                    </a:ext>
                  </a:extLst>
                </a:gridCol>
                <a:gridCol w="2130358">
                  <a:extLst>
                    <a:ext uri="{9D8B030D-6E8A-4147-A177-3AD203B41FA5}">
                      <a16:colId xmlns:a16="http://schemas.microsoft.com/office/drawing/2014/main" val="1956895483"/>
                    </a:ext>
                  </a:extLst>
                </a:gridCol>
              </a:tblGrid>
              <a:tr h="359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Research Work / Model</a:t>
                      </a:r>
                      <a:endParaRPr lang="en-US" sz="1200" dirty="0"/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Key Contribution</a:t>
                      </a:r>
                      <a:endParaRPr lang="en-US" sz="1200"/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Limitation / Research Gap</a:t>
                      </a:r>
                      <a:endParaRPr lang="en-US" sz="1200"/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Research Paper</a:t>
                      </a:r>
                      <a:endParaRPr lang="en-US" sz="1200"/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387601"/>
                  </a:ext>
                </a:extLst>
              </a:tr>
              <a:tr h="976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GLoRIA</a:t>
                      </a:r>
                      <a:endParaRPr lang="en-US" sz="1200" dirty="0"/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Learns global and local image-text representations by associating image regions with words from radiology reports.</a:t>
                      </a:r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Requires paired image-report data and does not directly provide actionable triage recommendations.</a:t>
                      </a:r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hlinkClick r:id="rId3"/>
                        </a:rPr>
                        <a:t>GLoRIA Paper</a:t>
                      </a:r>
                      <a:endParaRPr lang="en-US" sz="1200"/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036846"/>
                  </a:ext>
                </a:extLst>
              </a:tr>
              <a:tr h="976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ConVIRT</a:t>
                      </a:r>
                      <a:endParaRPr lang="en-US" sz="1200"/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Uses paired medical images and text for contrastive learning and improves medical image representation with limited labels.</a:t>
                      </a:r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Focuses mainly on representation learning rather than complete diagnosis, explanation and triage.</a:t>
                      </a:r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hlinkClick r:id="rId4"/>
                        </a:rPr>
                        <a:t>ConVIRT</a:t>
                      </a:r>
                      <a:r>
                        <a:rPr lang="en-US" sz="1200" dirty="0">
                          <a:hlinkClick r:id="rId4"/>
                        </a:rPr>
                        <a:t> Paper</a:t>
                      </a:r>
                      <a:endParaRPr lang="en-US" sz="1200" dirty="0"/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891106"/>
                  </a:ext>
                </a:extLst>
              </a:tr>
              <a:tr h="976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MedCLIP</a:t>
                      </a:r>
                      <a:endParaRPr lang="en-US" sz="1200"/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Uses medical knowledge-based contrastive learning with unpaired medical images and text.</a:t>
                      </a:r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Primarily supports representation learning and retrieval/classification rather than report generation and triage.</a:t>
                      </a:r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hlinkClick r:id="rId5"/>
                        </a:rPr>
                        <a:t>MedCLIP</a:t>
                      </a:r>
                      <a:r>
                        <a:rPr lang="en-US" sz="1200" dirty="0">
                          <a:hlinkClick r:id="rId5"/>
                        </a:rPr>
                        <a:t> Paper</a:t>
                      </a:r>
                      <a:endParaRPr lang="en-US" sz="1200" dirty="0"/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097638"/>
                  </a:ext>
                </a:extLst>
              </a:tr>
              <a:tr h="976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ChestX-ray8 / ChestX-ray14</a:t>
                      </a:r>
                      <a:endParaRPr lang="en-US" sz="1200"/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Provides large-scale chest X-ray datasets for disease classification and weakly supervised localization.</a:t>
                      </a:r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Labels are largely derived from reports and the datasets alone do not provide multimodal clinical reasoning.</a:t>
                      </a:r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hlinkClick r:id="rId6"/>
                        </a:rPr>
                        <a:t>ChestX-ray8 Paper</a:t>
                      </a:r>
                      <a:endParaRPr lang="en-US" sz="1200" dirty="0"/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97251"/>
                  </a:ext>
                </a:extLst>
              </a:tr>
              <a:tr h="822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Standalone Saliency Maps</a:t>
                      </a:r>
                      <a:endParaRPr lang="en-US" sz="1200"/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Highlight important regions of medical images to support visual interpretation.</a:t>
                      </a:r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Usually lack textual diagnostic explanation, severity assessment and actionable triage guidance.</a:t>
                      </a:r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hlinkClick r:id="rId7"/>
                        </a:rPr>
                        <a:t>Grad-CAM Reference Paper</a:t>
                      </a:r>
                      <a:endParaRPr lang="en-US" sz="1200" dirty="0"/>
                    </a:p>
                  </a:txBody>
                  <a:tcPr marL="51409" marR="51409" marT="25705" marB="2570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597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5619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" y="10160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343025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28737" y="1357312"/>
            <a:ext cx="9991726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 u="none" dirty="0">
                <a:solidFill>
                  <a:srgbClr val="0369A1"/>
                </a:solidFill>
                <a:latin typeface="Plus Jakarta Sans"/>
              </a:rPr>
              <a:t>Dual-Stream VLM Core</a:t>
            </a:r>
            <a:br>
              <a:rPr lang="en-US" sz="1350" b="1" i="0" u="none" dirty="0">
                <a:solidFill>
                  <a:srgbClr val="0369A1"/>
                </a:solidFill>
                <a:latin typeface="Plus Jakarta Sans"/>
              </a:rPr>
            </a:br>
            <a:r>
              <a:rPr lang="en-US" sz="1400" dirty="0">
                <a:solidFill>
                  <a:srgbClr val="475569"/>
                </a:solidFill>
                <a:latin typeface="Inter"/>
              </a:rPr>
              <a:t>Combines Vision Transformers (</a:t>
            </a:r>
            <a:r>
              <a:rPr lang="en-US" sz="1400" dirty="0" err="1">
                <a:solidFill>
                  <a:srgbClr val="475569"/>
                </a:solidFill>
                <a:latin typeface="Inter"/>
              </a:rPr>
              <a:t>ViT</a:t>
            </a:r>
            <a:r>
              <a:rPr lang="en-US" sz="1400" dirty="0">
                <a:solidFill>
                  <a:srgbClr val="475569"/>
                </a:solidFill>
                <a:latin typeface="Inter"/>
              </a:rPr>
              <a:t>) for spatial feature extraction, CLIP for vision-text alignment, and BLIP-2 for diagnostic report synthesis into a unified framework.</a:t>
            </a:r>
          </a:p>
          <a:p>
            <a:pPr algn="l"/>
            <a:endParaRPr sz="1350" b="1" i="0" u="none" dirty="0">
              <a:solidFill>
                <a:srgbClr val="0369A1"/>
              </a:solidFill>
              <a:latin typeface="Plus Jakarta Sans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86" y="3391382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8739" y="3407442"/>
            <a:ext cx="10010138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 u="none" dirty="0">
                <a:solidFill>
                  <a:srgbClr val="0369A1"/>
                </a:solidFill>
                <a:latin typeface="Plus Jakarta Sans"/>
              </a:rPr>
              <a:t>Transparent Reasoning</a:t>
            </a:r>
            <a:br>
              <a:rPr lang="en-US" sz="1350" b="1" i="0" u="none" dirty="0">
                <a:solidFill>
                  <a:srgbClr val="0369A1"/>
                </a:solidFill>
                <a:latin typeface="Plus Jakarta Sans"/>
              </a:rPr>
            </a:br>
            <a:r>
              <a:rPr lang="en-US" sz="1400" dirty="0">
                <a:solidFill>
                  <a:srgbClr val="475569"/>
                </a:solidFill>
                <a:latin typeface="Inter"/>
              </a:rPr>
              <a:t>Generates dual Grad-CAM heatmaps and cross-attention overlays on the X-ray scan, bridging the trust gap between automated AI outputs and rural clinical workers.</a:t>
            </a:r>
          </a:p>
          <a:p>
            <a:pPr algn="l"/>
            <a:endParaRPr sz="1350" b="1" i="0" u="none" dirty="0">
              <a:solidFill>
                <a:srgbClr val="0369A1"/>
              </a:solidFill>
              <a:latin typeface="Plus Jakarta San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333132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48739" y="2333132"/>
            <a:ext cx="10010138" cy="8463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 u="none" dirty="0">
                <a:solidFill>
                  <a:srgbClr val="0369A1"/>
                </a:solidFill>
                <a:latin typeface="Plus Jakarta Sans"/>
              </a:rPr>
              <a:t>Offline Edge Deployment</a:t>
            </a:r>
            <a:br>
              <a:rPr lang="en-US" sz="1350" b="1" i="0" u="none" dirty="0">
                <a:solidFill>
                  <a:srgbClr val="0369A1"/>
                </a:solidFill>
                <a:latin typeface="Plus Jakarta Sans"/>
              </a:rPr>
            </a:br>
            <a:r>
              <a:rPr lang="en-US" sz="1400" dirty="0">
                <a:solidFill>
                  <a:srgbClr val="475569"/>
                </a:solidFill>
                <a:latin typeface="Inter"/>
              </a:rPr>
              <a:t>Pioneers 8-bit quantization on multimodal medical networks, enabling complete offline execution on mid-range Android mobile devices in zero-connectivity posts.</a:t>
            </a:r>
          </a:p>
          <a:p>
            <a:pPr algn="l"/>
            <a:endParaRPr sz="1350" b="1" i="0" u="none" dirty="0">
              <a:solidFill>
                <a:srgbClr val="0369A1"/>
              </a:solidFill>
              <a:latin typeface="Plus Jakarta Sans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537" y="1466850"/>
            <a:ext cx="16192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123" y="3530862"/>
            <a:ext cx="238125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410" y="2486155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4035" y="349753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 dirty="0">
                <a:solidFill>
                  <a:srgbClr val="0F172A"/>
                </a:solidFill>
                <a:latin typeface="Plus Jakarta Sans ExtraBold"/>
              </a:rPr>
              <a:t>Innovation, Creativity &amp; Novelty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MAPS &amp; DIRECTIONS - Best Private University in Telangana ...">
            <a:extLst>
              <a:ext uri="{FF2B5EF4-FFF2-40B4-BE49-F238E27FC236}">
                <a16:creationId xmlns:a16="http://schemas.microsoft.com/office/drawing/2014/main" id="{72687283-9E25-40A8-E2F1-E4587AEC75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9999" y="5605527"/>
            <a:ext cx="1886743" cy="10667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409700"/>
            <a:ext cx="5419725" cy="2752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862" y="504825"/>
            <a:ext cx="1719262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1104900"/>
            <a:ext cx="5690711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369A1"/>
                </a:solidFill>
                <a:latin typeface="Plus Jakarta Sans"/>
              </a:rPr>
              <a:t>Training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1104900"/>
            <a:ext cx="5690711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369A1"/>
                </a:solidFill>
                <a:latin typeface="Plus Jakarta Sans"/>
              </a:rPr>
              <a:t>Pipeline Flow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1419225"/>
          <a:ext cx="5400673" cy="2733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9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3418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Dataset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Resource URL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Key 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41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ChestX-ray14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NIH CC Box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112,120 chest X-rays with 14 disease labels.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41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OpenI (OpenAccess)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NLM OpenI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7,470 X-rays paired with clinical radiology reports.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42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34155"/>
                          </a:solidFill>
                          <a:latin typeface="Inter"/>
                        </a:rPr>
                        <a:t>ROCO Medical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GitHub / ROCO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Multimodal radiology dataset for text-image alignment.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15100" y="1409700"/>
            <a:ext cx="5153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Multi-Source Preprocessing: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Normalization &amp; augmentations.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1738312"/>
            <a:ext cx="5153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ViT + CLIP Alignment: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Encodes spatial features into shared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066925"/>
            <a:ext cx="5153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Dual Heads: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Disease Classifier + BLIP-2 Natural Text Generator.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2395537"/>
            <a:ext cx="5153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Explainability Layer: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Grad-CAM heatmaps &amp; attention maps.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2724150"/>
            <a:ext cx="5153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Inter"/>
              </a:rPr>
              <a:t>Android Runtime:</a:t>
            </a:r>
            <a:r>
              <a:rPr sz="1125" b="0" i="0" u="none">
                <a:solidFill>
                  <a:srgbClr val="334155"/>
                </a:solidFill>
                <a:latin typeface="Inter"/>
              </a:rPr>
              <a:t> Quantized model providing offline triage.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" y="2776537"/>
            <a:ext cx="15190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52488" y="2776537"/>
            <a:ext cx="123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84339" y="2776537"/>
            <a:ext cx="2649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3400" y="3452812"/>
            <a:ext cx="15190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52488" y="3452812"/>
            <a:ext cx="12318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84339" y="3452812"/>
            <a:ext cx="2649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438275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766887"/>
            <a:ext cx="1714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095500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2424112"/>
            <a:ext cx="1714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2752725"/>
            <a:ext cx="95250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 dirty="0">
                <a:solidFill>
                  <a:srgbClr val="0F172A"/>
                </a:solidFill>
                <a:latin typeface="Plus Jakarta Sans ExtraBold"/>
              </a:rPr>
              <a:t>Datasets &amp; Technical Methodology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18AB08A-E959-2864-2006-68D43576693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3326606"/>
            <a:ext cx="4127224" cy="2824163"/>
          </a:xfrm>
          <a:prstGeom prst="rect">
            <a:avLst/>
          </a:prstGeom>
        </p:spPr>
      </p:pic>
      <p:pic>
        <p:nvPicPr>
          <p:cNvPr id="26" name="Picture 25" descr="MAPS &amp; DIRECTIONS - Best Private University in Telangana ...">
            <a:extLst>
              <a:ext uri="{FF2B5EF4-FFF2-40B4-BE49-F238E27FC236}">
                <a16:creationId xmlns:a16="http://schemas.microsoft.com/office/drawing/2014/main" id="{86E189B5-F003-1716-F0C4-9051DF7138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42323" y="5954426"/>
            <a:ext cx="1404419" cy="7940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4C6B5A-13D1-2AB4-91FF-A312433A56AD}"/>
              </a:ext>
            </a:extLst>
          </p:cNvPr>
          <p:cNvSpPr txBox="1"/>
          <p:nvPr/>
        </p:nvSpPr>
        <p:spPr>
          <a:xfrm>
            <a:off x="262647" y="340468"/>
            <a:ext cx="3702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lus Jakarta Sans ExtraBold"/>
              </a:rPr>
              <a:t>Flowchart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C4EA59-A3BC-66A1-F6CA-94F607D4CD84}"/>
              </a:ext>
            </a:extLst>
          </p:cNvPr>
          <p:cNvSpPr/>
          <p:nvPr/>
        </p:nvSpPr>
        <p:spPr>
          <a:xfrm>
            <a:off x="348777" y="783894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4BAC3E-95F8-48C9-2C38-D9A58325B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315" y="0"/>
            <a:ext cx="42613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5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65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00150"/>
            <a:ext cx="2671762" cy="2005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037" y="1200150"/>
            <a:ext cx="2671762" cy="2005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00150"/>
            <a:ext cx="2671762" cy="20050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362" y="1200150"/>
            <a:ext cx="2671762" cy="20050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5062" y="504825"/>
            <a:ext cx="1643062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1428750"/>
            <a:ext cx="23479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284C7"/>
                </a:solidFill>
                <a:latin typeface="Inter ExtraBold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28775"/>
            <a:ext cx="246530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Data Prep &amp;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9962" y="1428750"/>
            <a:ext cx="23479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284C7"/>
                </a:solidFill>
                <a:latin typeface="Inter ExtraBold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9962" y="1628775"/>
            <a:ext cx="246530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Model &amp; Explainability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4125" y="1428750"/>
            <a:ext cx="23479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284C7"/>
                </a:solidFill>
                <a:latin typeface="Inter ExtraBold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4125" y="1628775"/>
            <a:ext cx="246530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Optimization &amp;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8287" y="1428750"/>
            <a:ext cx="23479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284C7"/>
                </a:solidFill>
                <a:latin typeface="Inter ExtraBold"/>
              </a:rPr>
              <a:t>PHASE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8287" y="1628775"/>
            <a:ext cx="246530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Evaluation &amp;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1924050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Dataset curation (NIH, OpenI, ROCO)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2185987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Data preprocessing &amp; normalization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2447925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CLIP vision-text alignment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3312" y="1924050"/>
            <a:ext cx="221456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ViT encoder &amp; BLIP-2 report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3312" y="2371725"/>
            <a:ext cx="221456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Grad-CAM heatmap layer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3312" y="2819400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Attention overlay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7475" y="1924050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INT8 model quantization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2185987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ONNX / Android runtime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7475" y="2447925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Offline mobile performance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1637" y="1924050"/>
            <a:ext cx="221456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Metrics: Accuracy, Precision, Recall, F1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1637" y="2371725"/>
            <a:ext cx="221456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Heatmap localization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924050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185987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447925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962" y="1924050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9962" y="2371725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09962" y="2819400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4125" y="1924050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4125" y="2185987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4125" y="2447925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8287" y="1924050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8287" y="2371725"/>
            <a:ext cx="66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0F172A"/>
                </a:solidFill>
                <a:latin typeface="Plus Jakarta Sans ExtraBold"/>
              </a:rPr>
              <a:t>Project Plan &amp; Evaluation Strategy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3875" y="885825"/>
            <a:ext cx="1114425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0ED3C55-7529-785A-62A6-9B8E52B92D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6407" y="3276599"/>
            <a:ext cx="7117556" cy="3403761"/>
          </a:xfrm>
          <a:prstGeom prst="rect">
            <a:avLst/>
          </a:prstGeom>
        </p:spPr>
      </p:pic>
      <p:pic>
        <p:nvPicPr>
          <p:cNvPr id="44" name="Picture 43" descr="MAPS &amp; DIRECTIONS - Best Private University in Telangana ...">
            <a:extLst>
              <a:ext uri="{FF2B5EF4-FFF2-40B4-BE49-F238E27FC236}">
                <a16:creationId xmlns:a16="http://schemas.microsoft.com/office/drawing/2014/main" id="{9862068E-DD1C-56F2-B515-0F56366BE6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0959" y="5778789"/>
            <a:ext cx="1863883" cy="10538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15580" y="1089247"/>
            <a:ext cx="6360840" cy="21717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0" i="0" u="none" kern="1200" spc="-100" baseline="0"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2864" y="3499880"/>
            <a:ext cx="5543550" cy="1771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600" b="0" i="0" u="none"/>
              <a:t>Our project aims to bridge the rural diagnostic gap by delivering an honest, explainable, and fully offline AI assistant — ensuring patients receive timely and safe care regardless of geographic limitations.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279</TotalTime>
  <Words>894</Words>
  <Application>Microsoft Office PowerPoint</Application>
  <PresentationFormat>Widescreen</PresentationFormat>
  <Paragraphs>132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Inter</vt:lpstr>
      <vt:lpstr>Inter ExtraBold</vt:lpstr>
      <vt:lpstr>Inter SemiBold</vt:lpstr>
      <vt:lpstr>Neue Haas Grotesk Text Pro</vt:lpstr>
      <vt:lpstr>Plus Jakarta Sans</vt:lpstr>
      <vt:lpstr>Plus Jakarta Sans ExtraBold</vt:lpstr>
      <vt:lpstr>Dune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Dama Poojitha .</cp:lastModifiedBy>
  <cp:revision>10</cp:revision>
  <dcterms:created xsi:type="dcterms:W3CDTF">2013-01-27T09:14:16Z</dcterms:created>
  <dcterms:modified xsi:type="dcterms:W3CDTF">2026-08-13T06:59:45Z</dcterms:modified>
  <cp:category/>
</cp:coreProperties>
</file>